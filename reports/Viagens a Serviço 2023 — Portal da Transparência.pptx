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C99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DA TRANSPARÊNCIA · GOVERNO FEDERAL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863949"/>
            <a:ext cx="108833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7F5E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Viagens a Serviço 2023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70969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7CB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dados para apoio à tomada de decisão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831880"/>
            <a:ext cx="34409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826.989 registros analisados · Ano-base 2023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04101" y="5831880"/>
            <a:ext cx="32703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da Transparência do Governo Federal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Objetivo da análise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48680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Responder, com base nos dados de viagens a serviço de 2023, seis perguntas que orientam decisões sobre gestão de deslocamentos no serviço público federal.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2125762"/>
            <a:ext cx="3420467" cy="1267420"/>
          </a:xfrm>
          <a:prstGeom prst="roundRect">
            <a:avLst>
              <a:gd name="adj" fmla="val 8016"/>
            </a:avLst>
          </a:prstGeom>
          <a:solidFill>
            <a:srgbClr val="EEE9D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328962"/>
            <a:ext cx="31044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6000" y="2760762"/>
            <a:ext cx="3104489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órgãos superiores mais gastam com viagens?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667" y="2125762"/>
            <a:ext cx="3420566" cy="1267420"/>
          </a:xfrm>
          <a:prstGeom prst="roundRect">
            <a:avLst>
              <a:gd name="adj" fmla="val 8016"/>
            </a:avLst>
          </a:prstGeom>
          <a:solidFill>
            <a:srgbClr val="EEE9DF"/>
          </a:solidFill>
          <a:ln/>
        </p:spPr>
      </p:sp>
      <p:sp>
        <p:nvSpPr>
          <p:cNvPr id="8" name="Text 6"/>
          <p:cNvSpPr/>
          <p:nvPr/>
        </p:nvSpPr>
        <p:spPr>
          <a:xfrm>
            <a:off x="4588867" y="2436217"/>
            <a:ext cx="31045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88867" y="2868017"/>
            <a:ext cx="310459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os destinos mais frequentes?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34" y="2125762"/>
            <a:ext cx="3420566" cy="1267420"/>
          </a:xfrm>
          <a:prstGeom prst="roundRect">
            <a:avLst>
              <a:gd name="adj" fmla="val 8016"/>
            </a:avLst>
          </a:prstGeom>
          <a:solidFill>
            <a:srgbClr val="EEE9DF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34" y="2436217"/>
            <a:ext cx="31045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61834" y="2868017"/>
            <a:ext cx="310459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os destinos mais caros?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545582"/>
            <a:ext cx="3420467" cy="1267420"/>
          </a:xfrm>
          <a:prstGeom prst="roundRect">
            <a:avLst>
              <a:gd name="adj" fmla="val 8016"/>
            </a:avLst>
          </a:prstGeom>
          <a:solidFill>
            <a:srgbClr val="EEE9D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856038"/>
            <a:ext cx="31044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16000" y="4287838"/>
            <a:ext cx="3104489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os 5 cargos que mais viajam?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5667" y="3545582"/>
            <a:ext cx="3420566" cy="1267420"/>
          </a:xfrm>
          <a:prstGeom prst="roundRect">
            <a:avLst>
              <a:gd name="adj" fmla="val 8016"/>
            </a:avLst>
          </a:prstGeom>
          <a:solidFill>
            <a:srgbClr val="EEE9DF"/>
          </a:solidFill>
          <a:ln/>
        </p:spPr>
      </p:sp>
      <p:sp>
        <p:nvSpPr>
          <p:cNvPr id="17" name="Text 15"/>
          <p:cNvSpPr/>
          <p:nvPr/>
        </p:nvSpPr>
        <p:spPr>
          <a:xfrm>
            <a:off x="4588867" y="3856038"/>
            <a:ext cx="31045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88867" y="4287838"/>
            <a:ext cx="310459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a duração média das viagens?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8634" y="3545582"/>
            <a:ext cx="3420566" cy="1267420"/>
          </a:xfrm>
          <a:prstGeom prst="roundRect">
            <a:avLst>
              <a:gd name="adj" fmla="val 8016"/>
            </a:avLst>
          </a:prstGeom>
          <a:solidFill>
            <a:srgbClr val="EEE9DF"/>
          </a:solidFill>
          <a:ln/>
        </p:spPr>
      </p:sp>
      <p:sp>
        <p:nvSpPr>
          <p:cNvPr id="20" name="Text 18"/>
          <p:cNvSpPr/>
          <p:nvPr/>
        </p:nvSpPr>
        <p:spPr>
          <a:xfrm>
            <a:off x="8161834" y="3748782"/>
            <a:ext cx="31045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61834" y="4180582"/>
            <a:ext cx="3104591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são os 10 cargos com mais despesas?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36667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da Transparência · Viagens a Serviço 2023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 de dados e metodologia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475680"/>
            <a:ext cx="2527300" cy="1168301"/>
          </a:xfrm>
          <a:prstGeom prst="roundRect">
            <a:avLst>
              <a:gd name="adj" fmla="val 8696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678880"/>
            <a:ext cx="21845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826.989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16000" y="2227461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de viagens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92500" y="1475680"/>
            <a:ext cx="2527300" cy="1168301"/>
          </a:xfrm>
          <a:prstGeom prst="roundRect">
            <a:avLst>
              <a:gd name="adj" fmla="val 8696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3695700" y="1678880"/>
            <a:ext cx="21845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95700" y="2227461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colunas originais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75680"/>
            <a:ext cx="2527300" cy="1168301"/>
          </a:xfrm>
          <a:prstGeom prst="roundRect">
            <a:avLst>
              <a:gd name="adj" fmla="val 8696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375400" y="1678880"/>
            <a:ext cx="21845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75400" y="2227461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ano-base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51900" y="1475680"/>
            <a:ext cx="2527300" cy="1168301"/>
          </a:xfrm>
          <a:prstGeom prst="roundRect">
            <a:avLst>
              <a:gd name="adj" fmla="val 8696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678880"/>
            <a:ext cx="21845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055100" y="2227461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 duplicadas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2897981"/>
            <a:ext cx="5130800" cy="2944019"/>
          </a:xfrm>
          <a:prstGeom prst="roundRect">
            <a:avLst>
              <a:gd name="adj" fmla="val 3451"/>
            </a:avLst>
          </a:prstGeom>
          <a:solidFill>
            <a:srgbClr val="EEE9D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3782020"/>
            <a:ext cx="47614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 "Despesas" (criada)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66800" y="4137620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Diárias + Passagens + Outros gastos − Devolução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6800" y="4531320"/>
            <a:ext cx="47614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para as perguntas de gasto e para os rankings por destino e cargo.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8400" y="2897981"/>
            <a:ext cx="5130800" cy="2944019"/>
          </a:xfrm>
          <a:prstGeom prst="roundRect">
            <a:avLst>
              <a:gd name="adj" fmla="val 3451"/>
            </a:avLst>
          </a:prstGeom>
          <a:solidFill>
            <a:srgbClr val="EEE9DF"/>
          </a:solidFill>
          <a:ln/>
        </p:spPr>
      </p:sp>
      <p:sp>
        <p:nvSpPr>
          <p:cNvPr id="20" name="Text 18"/>
          <p:cNvSpPr/>
          <p:nvPr/>
        </p:nvSpPr>
        <p:spPr>
          <a:xfrm>
            <a:off x="6502400" y="3633391"/>
            <a:ext cx="47614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Decisões de qualidade dos dados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02400" y="3963591"/>
            <a:ext cx="4761484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 não informado em 39% dos registros — mantido na base, excluído apenas nas análises por cargo</a:t>
            </a:r>
            <a:endParaRPr lang="en-US" sz="1200" dirty="0"/>
          </a:p>
          <a:p>
            <a:pPr algn="l" marL="182880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Despesas com valor zero ou negativo mantidas sem tratamento</a:t>
            </a:r>
            <a:endParaRPr lang="en-US" sz="1200" dirty="0"/>
          </a:p>
          <a:p>
            <a:pPr algn="l" marL="182880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 convertidas e validadas, sem inconsistências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56776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Portal da Transparência do Governo Federal · Viagens a Serviço 2023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252438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7F5E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Achado transversal: lacunas de identificação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73751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padrão que se repete em várias das perguntas analisadas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2800" y="2222599"/>
            <a:ext cx="5181600" cy="2057202"/>
          </a:xfrm>
          <a:prstGeom prst="roundRect">
            <a:avLst>
              <a:gd name="adj" fmla="val 4939"/>
            </a:avLst>
          </a:prstGeom>
          <a:solidFill>
            <a:srgbClr val="1F2F52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27399"/>
            <a:ext cx="470916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19,8%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17600" y="3411240"/>
            <a:ext cx="47091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 viagens sem órgão superior identificado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376168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163.659 registros · R$ 684,8 milhões em despesas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2222599"/>
            <a:ext cx="5181600" cy="2057202"/>
          </a:xfrm>
          <a:prstGeom prst="roundRect">
            <a:avLst>
              <a:gd name="adj" fmla="val 4939"/>
            </a:avLst>
          </a:prstGeom>
          <a:solidFill>
            <a:srgbClr val="1F2F52"/>
          </a:solidFill>
          <a:ln/>
        </p:spPr>
      </p:sp>
      <p:sp>
        <p:nvSpPr>
          <p:cNvPr id="9" name="Text 7"/>
          <p:cNvSpPr/>
          <p:nvPr/>
        </p:nvSpPr>
        <p:spPr>
          <a:xfrm>
            <a:off x="6502400" y="2527399"/>
            <a:ext cx="470916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14,3%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502400" y="3411240"/>
            <a:ext cx="47091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 viagens com destino e cargo sob sigilo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02400" y="376168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118.222 registros · R$ 367,0 milhões em despesas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4533801"/>
            <a:ext cx="10566400" cy="868561"/>
          </a:xfrm>
          <a:prstGeom prst="roundRect">
            <a:avLst>
              <a:gd name="adj" fmla="val 11698"/>
            </a:avLst>
          </a:prstGeom>
          <a:solidFill>
            <a:srgbClr val="C9932C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4737001"/>
            <a:ext cx="10464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Juntas, essas lacunas somam mais de R$ 1 bilhão em despesas sem identificação completa — uma prioridade para melhoria no preenchimento dos dados.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39584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Achado consolidado a partir das Perguntas 1, 2, 4 e 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99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Órgãos superiores que mais gastam com viagens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6 órgãos identificados · Despesa total em 2023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021681"/>
            <a:ext cx="30086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Ministério da Justiça e Segurança Pública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60800" y="2095302"/>
            <a:ext cx="50800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7" name="Text 5"/>
          <p:cNvSpPr/>
          <p:nvPr/>
        </p:nvSpPr>
        <p:spPr>
          <a:xfrm>
            <a:off x="9067800" y="2128341"/>
            <a:ext cx="89078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R$ 319,7 mi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646462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Ministério da Defesa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60800" y="2613422"/>
            <a:ext cx="48133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0" name="Text 8"/>
          <p:cNvSpPr/>
          <p:nvPr/>
        </p:nvSpPr>
        <p:spPr>
          <a:xfrm>
            <a:off x="8801100" y="2646462"/>
            <a:ext cx="93989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R$ 302,9 mi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090962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Ministério da Educação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60800" y="3057922"/>
            <a:ext cx="42989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3" name="Text 11"/>
          <p:cNvSpPr/>
          <p:nvPr/>
        </p:nvSpPr>
        <p:spPr>
          <a:xfrm>
            <a:off x="8286750" y="3090962"/>
            <a:ext cx="91281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R$ 270,7 mi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502422"/>
            <a:ext cx="30086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Ministério do Meio Ambiente e Mudança do Clima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60800" y="3576042"/>
            <a:ext cx="18034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6" name="Text 14"/>
          <p:cNvSpPr/>
          <p:nvPr/>
        </p:nvSpPr>
        <p:spPr>
          <a:xfrm>
            <a:off x="5791200" y="3609082"/>
            <a:ext cx="87570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R$ 113,4 mi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4127202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Ministério da Saúde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60800" y="4094163"/>
            <a:ext cx="13716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9" name="Text 17"/>
          <p:cNvSpPr/>
          <p:nvPr/>
        </p:nvSpPr>
        <p:spPr>
          <a:xfrm>
            <a:off x="5359400" y="4127202"/>
            <a:ext cx="83522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R$ 86,3 mi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571702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Ministério das Relações Exteriores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60800" y="4538663"/>
            <a:ext cx="11938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22" name="Text 20"/>
          <p:cNvSpPr/>
          <p:nvPr/>
        </p:nvSpPr>
        <p:spPr>
          <a:xfrm>
            <a:off x="5181600" y="4571702"/>
            <a:ext cx="7784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R$ 75,1 mi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5046663"/>
            <a:ext cx="10566400" cy="518120"/>
          </a:xfrm>
          <a:prstGeom prst="roundRect">
            <a:avLst>
              <a:gd name="adj" fmla="val 14707"/>
            </a:avLst>
          </a:prstGeom>
          <a:solidFill>
            <a:srgbClr val="EEE9D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800" y="5046663"/>
            <a:ext cx="10566400" cy="518120"/>
          </a:xfrm>
          <a:custGeom>
            <a:avLst/>
            <a:gdLst/>
            <a:ahLst/>
            <a:cxnLst/>
            <a:rect l="l" t="t" r="r" b="b"/>
            <a:pathLst>
              <a:path w="10566400" h="518120">
                <a:moveTo>
                  <a:pt x="76200" y="518120"/>
                </a:moveTo>
                <a:lnTo>
                  <a:pt x="76200" y="5181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38100" stAng="16200000" swAng="-5400000"/>
                <a:lnTo>
                  <a:pt x="38100" y="441920"/>
                </a:lnTo>
                <a:arcTo hR="76200" wR="38100" stAng="10800000" swAng="-5400000"/>
                <a:close/>
              </a:path>
            </a:pathLst>
          </a:custGeom>
          <a:solidFill>
            <a:srgbClr val="C9932C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100" y="5199063"/>
            <a:ext cx="10425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Justiça, Defesa e Educação somam R$ 893,3 milhões — mais que o triplo dos três órgãos seguintes juntos.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810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Exclui 19,8% das viagens sem órgão identificado (achado destacado à parte) · Fonte: Portal da Transparência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99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Destinos mais frequentes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6 destinos por número de viagens · Destinos múltiplos desmembrados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05472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Brasília/DF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60800" y="2021681"/>
            <a:ext cx="50800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7" name="Text 5"/>
          <p:cNvSpPr/>
          <p:nvPr/>
        </p:nvSpPr>
        <p:spPr>
          <a:xfrm>
            <a:off x="9067800" y="2054721"/>
            <a:ext cx="56981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76.346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49922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Rio de Janeiro/RJ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60800" y="2466181"/>
            <a:ext cx="20891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0" name="Text 8"/>
          <p:cNvSpPr/>
          <p:nvPr/>
        </p:nvSpPr>
        <p:spPr>
          <a:xfrm>
            <a:off x="6076950" y="2499221"/>
            <a:ext cx="56038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31.408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294372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 Paulo/SP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60800" y="2910681"/>
            <a:ext cx="19113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3" name="Text 11"/>
          <p:cNvSpPr/>
          <p:nvPr/>
        </p:nvSpPr>
        <p:spPr>
          <a:xfrm>
            <a:off x="5899150" y="2943721"/>
            <a:ext cx="57685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28.696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38822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 José dos Campos/SP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60800" y="3355181"/>
            <a:ext cx="8636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6" name="Text 14"/>
          <p:cNvSpPr/>
          <p:nvPr/>
        </p:nvSpPr>
        <p:spPr>
          <a:xfrm>
            <a:off x="4851400" y="3388221"/>
            <a:ext cx="53488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12.978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383272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Manaus/AM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60800" y="3799681"/>
            <a:ext cx="7048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9" name="Text 17"/>
          <p:cNvSpPr/>
          <p:nvPr/>
        </p:nvSpPr>
        <p:spPr>
          <a:xfrm>
            <a:off x="4692650" y="3832721"/>
            <a:ext cx="547191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10.588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27722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Salvador/BA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60800" y="4244181"/>
            <a:ext cx="6921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22" name="Text 20"/>
          <p:cNvSpPr/>
          <p:nvPr/>
        </p:nvSpPr>
        <p:spPr>
          <a:xfrm>
            <a:off x="4679950" y="4277221"/>
            <a:ext cx="54838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10.369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4752181"/>
            <a:ext cx="10566400" cy="518120"/>
          </a:xfrm>
          <a:prstGeom prst="roundRect">
            <a:avLst>
              <a:gd name="adj" fmla="val 14707"/>
            </a:avLst>
          </a:prstGeom>
          <a:solidFill>
            <a:srgbClr val="EEE9D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800" y="4752181"/>
            <a:ext cx="10566400" cy="518120"/>
          </a:xfrm>
          <a:custGeom>
            <a:avLst/>
            <a:gdLst/>
            <a:ahLst/>
            <a:cxnLst/>
            <a:rect l="l" t="t" r="r" b="b"/>
            <a:pathLst>
              <a:path w="10566400" h="518120">
                <a:moveTo>
                  <a:pt x="76200" y="518120"/>
                </a:moveTo>
                <a:lnTo>
                  <a:pt x="76200" y="5181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38100" stAng="16200000" swAng="-5400000"/>
                <a:lnTo>
                  <a:pt x="38100" y="441920"/>
                </a:lnTo>
                <a:arcTo hR="76200" wR="38100" stAng="10800000" swAng="-5400000"/>
                <a:close/>
              </a:path>
            </a:pathLst>
          </a:custGeom>
          <a:solidFill>
            <a:srgbClr val="C9932C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100" y="4904581"/>
            <a:ext cx="10425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Brasília concentra 44,8% das viagens entre os 6 destinos mais frequentes, refletindo sua função administrativa central.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7349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Sigilo lidera com 118.222 ocorrências (14,3%) — destacado à parte · Fonte: Portal da Transparência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99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Destinos mais caros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6 viagens individuais de maior despesa · Valores e destinos mantidos como registrados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34381"/>
          <a:ext cx="10553700" cy="2514898"/>
        </p:xfrm>
        <a:graphic>
          <a:graphicData uri="http://schemas.openxmlformats.org/drawingml/2006/table">
            <a:tbl>
              <a:tblPr/>
              <a:tblGrid>
                <a:gridCol w="5804535"/>
                <a:gridCol w="2427351"/>
                <a:gridCol w="2321814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Destino(s) da viagem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Despesa total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Múltiplos destinos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Jacarta/Indonésia, Phnom Penh/Camboja, Nova York/EUA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R$ 195.192,15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9D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Xangai/China, São Paulo/SP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R$ 192.676,02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Xangai/China, São Paulo/SP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R$ 192.048,56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9D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Informações protegidas por sigilo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R$ 184.787,42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Lisboa/Portugal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R$ 172.866,17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9D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Xangai/China, Pequim/China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R$ 164.821,02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4777879"/>
            <a:ext cx="10566400" cy="731441"/>
          </a:xfrm>
          <a:prstGeom prst="roundRect">
            <a:avLst>
              <a:gd name="adj" fmla="val 10418"/>
            </a:avLst>
          </a:prstGeom>
          <a:solidFill>
            <a:srgbClr val="EEE9DF"/>
          </a:solidFill>
          <a:ln/>
        </p:spPr>
      </p:sp>
      <p:sp>
        <p:nvSpPr>
          <p:cNvPr id="7" name="Shape 4"/>
          <p:cNvSpPr/>
          <p:nvPr/>
        </p:nvSpPr>
        <p:spPr>
          <a:xfrm>
            <a:off x="812800" y="4777879"/>
            <a:ext cx="10566400" cy="731441"/>
          </a:xfrm>
          <a:custGeom>
            <a:avLst/>
            <a:gdLst/>
            <a:ahLst/>
            <a:cxnLst/>
            <a:rect l="l" t="t" r="r" b="b"/>
            <a:pathLst>
              <a:path w="10566400" h="731441">
                <a:moveTo>
                  <a:pt x="76200" y="731441"/>
                </a:moveTo>
                <a:lnTo>
                  <a:pt x="76200" y="731441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38100" stAng="16200000" swAng="-5400000"/>
                <a:lnTo>
                  <a:pt x="38100" y="655241"/>
                </a:lnTo>
                <a:arcTo hR="76200" wR="38100" stAng="10800000" swAng="-5400000"/>
                <a:close/>
              </a:path>
            </a:pathLst>
          </a:custGeom>
          <a:solidFill>
            <a:srgbClr val="C9932C"/>
          </a:solidFill>
          <a:ln/>
        </p:spPr>
      </p:sp>
      <p:sp>
        <p:nvSpPr>
          <p:cNvPr id="8" name="Text 5"/>
          <p:cNvSpPr/>
          <p:nvPr/>
        </p:nvSpPr>
        <p:spPr>
          <a:xfrm>
            <a:off x="1054100" y="4930279"/>
            <a:ext cx="1042555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das 10 viagens mais caras têm múltiplos destinos — viagens mais longas e complexas concentram os maiores gastos. Valores mantidos sem rateio entre destinos.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41707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Portal da Transparência · Viagens a Serviço 2023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24727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99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524099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Os 5 cargos que mais viajam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99648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de viagens por cargo · Linhas sem Cargo informado excluídas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48920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do Magistério Superior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60800" y="2456160"/>
            <a:ext cx="50800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7" name="Text 5"/>
          <p:cNvSpPr/>
          <p:nvPr/>
        </p:nvSpPr>
        <p:spPr>
          <a:xfrm>
            <a:off x="9067800" y="2489200"/>
            <a:ext cx="56703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54.570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00660"/>
            <a:ext cx="30086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Ens. Básico Técn. Tecnológico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60800" y="2974280"/>
            <a:ext cx="34861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0" name="Text 8"/>
          <p:cNvSpPr/>
          <p:nvPr/>
        </p:nvSpPr>
        <p:spPr>
          <a:xfrm>
            <a:off x="7473950" y="3007320"/>
            <a:ext cx="54957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37.476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52544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Contratado Lei 8745/93 - NI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60800" y="3492401"/>
            <a:ext cx="16573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3" name="Text 11"/>
          <p:cNvSpPr/>
          <p:nvPr/>
        </p:nvSpPr>
        <p:spPr>
          <a:xfrm>
            <a:off x="5645150" y="3525441"/>
            <a:ext cx="50036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17.787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96994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 Fiscal Federal Agropecuário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60800" y="3936901"/>
            <a:ext cx="15430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6" name="Text 14"/>
          <p:cNvSpPr/>
          <p:nvPr/>
        </p:nvSpPr>
        <p:spPr>
          <a:xfrm>
            <a:off x="5530850" y="3969941"/>
            <a:ext cx="54104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16.582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441444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Analista Ambiental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60800" y="4381401"/>
            <a:ext cx="12700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4414441"/>
            <a:ext cx="51573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889401"/>
            <a:ext cx="10566400" cy="518120"/>
          </a:xfrm>
          <a:prstGeom prst="roundRect">
            <a:avLst>
              <a:gd name="adj" fmla="val 14707"/>
            </a:avLst>
          </a:prstGeom>
          <a:solidFill>
            <a:srgbClr val="EEE9DF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800" y="4889401"/>
            <a:ext cx="10566400" cy="518120"/>
          </a:xfrm>
          <a:custGeom>
            <a:avLst/>
            <a:gdLst/>
            <a:ahLst/>
            <a:cxnLst/>
            <a:rect l="l" t="t" r="r" b="b"/>
            <a:pathLst>
              <a:path w="10566400" h="518120">
                <a:moveTo>
                  <a:pt x="76200" y="518120"/>
                </a:moveTo>
                <a:lnTo>
                  <a:pt x="76200" y="5181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38100" stAng="16200000" swAng="-5400000"/>
                <a:lnTo>
                  <a:pt x="38100" y="441920"/>
                </a:lnTo>
                <a:arcTo hR="76200" wR="38100" stAng="10800000" swAng="-5400000"/>
                <a:close/>
              </a:path>
            </a:pathLst>
          </a:custGeom>
          <a:solidFill>
            <a:srgbClr val="C9932C"/>
          </a:solidFill>
          <a:ln/>
        </p:spPr>
      </p:sp>
      <p:sp>
        <p:nvSpPr>
          <p:cNvPr id="22" name="Text 20"/>
          <p:cNvSpPr/>
          <p:nvPr/>
        </p:nvSpPr>
        <p:spPr>
          <a:xfrm>
            <a:off x="1054100" y="5041801"/>
            <a:ext cx="10425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Professores concentram 92.046 viagens — praticamente o dobro dos três cargos seguintes somados.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69666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Exclui sigilo (118.222) e registros sem Cargo informado (39%) · Fonte: Portal da Transparência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2954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99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572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7F5E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Duração média das viagens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235200"/>
            <a:ext cx="5181600" cy="2001441"/>
          </a:xfrm>
          <a:prstGeom prst="roundRect">
            <a:avLst>
              <a:gd name="adj" fmla="val 5076"/>
            </a:avLst>
          </a:prstGeom>
          <a:solidFill>
            <a:srgbClr val="1F2F52"/>
          </a:solidFill>
          <a:ln/>
        </p:spPr>
      </p:sp>
      <p:sp>
        <p:nvSpPr>
          <p:cNvPr id="5" name="Text 3"/>
          <p:cNvSpPr/>
          <p:nvPr/>
        </p:nvSpPr>
        <p:spPr>
          <a:xfrm>
            <a:off x="2661345" y="2540000"/>
            <a:ext cx="153521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b="1" dirty="0">
                <a:solidFill>
                  <a:srgbClr val="C993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5,89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459534" y="3683000"/>
            <a:ext cx="19446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 — duração média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2235200"/>
            <a:ext cx="5181600" cy="2001441"/>
          </a:xfrm>
          <a:prstGeom prst="roundRect">
            <a:avLst>
              <a:gd name="adj" fmla="val 5076"/>
            </a:avLst>
          </a:prstGeom>
          <a:solidFill>
            <a:srgbClr val="1F2F52"/>
          </a:solidFill>
          <a:ln/>
        </p:spPr>
      </p:sp>
      <p:sp>
        <p:nvSpPr>
          <p:cNvPr id="8" name="Text 6"/>
          <p:cNvSpPr/>
          <p:nvPr/>
        </p:nvSpPr>
        <p:spPr>
          <a:xfrm>
            <a:off x="8579941" y="2540000"/>
            <a:ext cx="46761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b="1" dirty="0">
                <a:solidFill>
                  <a:srgbClr val="F7F5E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740452" y="3683000"/>
            <a:ext cx="215877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 — duração mediana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4490641"/>
            <a:ext cx="10566400" cy="868561"/>
          </a:xfrm>
          <a:prstGeom prst="roundRect">
            <a:avLst>
              <a:gd name="adj" fmla="val 11698"/>
            </a:avLst>
          </a:prstGeom>
          <a:solidFill>
            <a:srgbClr val="C9932C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693841"/>
            <a:ext cx="10464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diferença entre média e mediana indica distribuição assimétrica: a maioria das viagens dura cerca de 3 dias, mas um número menor de viagens bem mais longas eleva a média. Nenhuma duração negativa foi encontrada.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41707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Portal da Transparência · Viagens a Serviço 2023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99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Os 10 cargos com mais despesas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6 cargos identificados · Despesa total em 2023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05472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do Magistério Superior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60800" y="2021681"/>
            <a:ext cx="50800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7" name="Text 5"/>
          <p:cNvSpPr/>
          <p:nvPr/>
        </p:nvSpPr>
        <p:spPr>
          <a:xfrm>
            <a:off x="9067800" y="2054721"/>
            <a:ext cx="90566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R$ 109,9 mi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466181"/>
            <a:ext cx="30086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Ens. Básico Técn. Tecnológico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60800" y="2539802"/>
            <a:ext cx="24066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0" name="Text 8"/>
          <p:cNvSpPr/>
          <p:nvPr/>
        </p:nvSpPr>
        <p:spPr>
          <a:xfrm>
            <a:off x="6394450" y="2572841"/>
            <a:ext cx="83621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R$ 52,0 mi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090962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Técnico do Seguro Social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60800" y="3057922"/>
            <a:ext cx="21018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3" name="Text 11"/>
          <p:cNvSpPr/>
          <p:nvPr/>
        </p:nvSpPr>
        <p:spPr>
          <a:xfrm>
            <a:off x="6089650" y="3090962"/>
            <a:ext cx="84425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R$ 45,4 mi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535462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Analista Ambiental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60800" y="3502422"/>
            <a:ext cx="161290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6" name="Text 14"/>
          <p:cNvSpPr/>
          <p:nvPr/>
        </p:nvSpPr>
        <p:spPr>
          <a:xfrm>
            <a:off x="5600700" y="3535462"/>
            <a:ext cx="84078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R$ 34,9 mi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3979962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Esp. em Reg. e Vig. Sanitária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60800" y="3946922"/>
            <a:ext cx="11239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19" name="Text 17"/>
          <p:cNvSpPr/>
          <p:nvPr/>
        </p:nvSpPr>
        <p:spPr>
          <a:xfrm>
            <a:off x="5111750" y="3979962"/>
            <a:ext cx="83383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R$ 24,3 mi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424462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Auditor-Fiscal da Receita Federal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60800" y="4391422"/>
            <a:ext cx="1111250" cy="279400"/>
          </a:xfrm>
          <a:prstGeom prst="roundRect">
            <a:avLst>
              <a:gd name="adj" fmla="val 18182"/>
            </a:avLst>
          </a:prstGeom>
          <a:solidFill>
            <a:srgbClr val="C9932C"/>
          </a:solidFill>
          <a:ln/>
        </p:spPr>
      </p:sp>
      <p:sp>
        <p:nvSpPr>
          <p:cNvPr id="22" name="Text 20"/>
          <p:cNvSpPr/>
          <p:nvPr/>
        </p:nvSpPr>
        <p:spPr>
          <a:xfrm>
            <a:off x="5099050" y="4424462"/>
            <a:ext cx="79146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R$ 24,1 mi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4899422"/>
            <a:ext cx="10566400" cy="518120"/>
          </a:xfrm>
          <a:prstGeom prst="roundRect">
            <a:avLst>
              <a:gd name="adj" fmla="val 14707"/>
            </a:avLst>
          </a:prstGeom>
          <a:solidFill>
            <a:srgbClr val="EEE9D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800" y="4899422"/>
            <a:ext cx="10566400" cy="518120"/>
          </a:xfrm>
          <a:custGeom>
            <a:avLst/>
            <a:gdLst/>
            <a:ahLst/>
            <a:cxnLst/>
            <a:rect l="l" t="t" r="r" b="b"/>
            <a:pathLst>
              <a:path w="10566400" h="518120">
                <a:moveTo>
                  <a:pt x="76200" y="518120"/>
                </a:moveTo>
                <a:lnTo>
                  <a:pt x="76200" y="5181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38100" stAng="16200000" swAng="-5400000"/>
                <a:lnTo>
                  <a:pt x="38100" y="441920"/>
                </a:lnTo>
                <a:arcTo hR="76200" wR="38100" stAng="10800000" swAng="-5400000"/>
                <a:close/>
              </a:path>
            </a:pathLst>
          </a:custGeom>
          <a:solidFill>
            <a:srgbClr val="C9932C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100" y="5051822"/>
            <a:ext cx="10425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do Magistério Superior e Professor Ens. Básico lideram tanto em número de viagens quanto em despesas.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951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Sigilo lidera com R$ 367,0 milhões — mais que o triplo do 2º colocado — excluído deste ranking · Fonte: Portal da Transparência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6721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Cruzamento: quem mais viaja nem sempre é quem mais gasta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2630091"/>
            <a:ext cx="5181600" cy="2057400"/>
          </a:xfrm>
          <a:prstGeom prst="roundRect">
            <a:avLst>
              <a:gd name="adj" fmla="val 4938"/>
            </a:avLst>
          </a:prstGeom>
          <a:solidFill>
            <a:srgbClr val="EEE9D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2884091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Professores lideram os dois rankings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6800" y="3214291"/>
            <a:ext cx="481380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do Magistério Superior e Professor Ens. Básico Técn. Tecnológico aparecem no topo tanto em número de viagens (Pergunta 4) quanto em despesas totais (Pergunta 6).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7600" y="2630091"/>
            <a:ext cx="5181600" cy="2057400"/>
          </a:xfrm>
          <a:prstGeom prst="roundRect">
            <a:avLst>
              <a:gd name="adj" fmla="val 4938"/>
            </a:avLst>
          </a:prstGeom>
          <a:solidFill>
            <a:srgbClr val="EEE9DF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2884091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Analista Ambiental: menos viagens, maior custo médio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51600" y="3442891"/>
            <a:ext cx="481380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4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13.610 viagens e R$ 34,9 milhões em despesas, o custo médio é de aproximadamente R$ 2.568 por viagem — cargo fora do top 5 em número de viagens, mas presente no top 5 de despesas.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35762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D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Portal da Transparência · Perguntas 4 e 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7F5E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Conclusões e recomendações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4502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9932C"/>
          </a:solidFill>
          <a:ln/>
        </p:spPr>
      </p:sp>
      <p:sp>
        <p:nvSpPr>
          <p:cNvPr id="4" name="Text 2"/>
          <p:cNvSpPr/>
          <p:nvPr/>
        </p:nvSpPr>
        <p:spPr>
          <a:xfrm>
            <a:off x="932259" y="1496020"/>
            <a:ext cx="1165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44600" y="1450280"/>
            <a:ext cx="1024518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Melhorar o preenchimento de Órgão superior e Cargo, hoje ausentes em 19,8% e 39% dos registros, respectivamente.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18820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9932C"/>
          </a:solidFill>
          <a:ln/>
        </p:spPr>
      </p:sp>
      <p:sp>
        <p:nvSpPr>
          <p:cNvPr id="7" name="Text 5"/>
          <p:cNvSpPr/>
          <p:nvPr/>
        </p:nvSpPr>
        <p:spPr>
          <a:xfrm>
            <a:off x="917178" y="1927820"/>
            <a:ext cx="146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4600" y="1882080"/>
            <a:ext cx="765800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os critérios de aplicação de sigilo, que hoje afeta 14,3% das viagens registradas.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23138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9932C"/>
          </a:solidFill>
          <a:ln/>
        </p:spPr>
      </p:sp>
      <p:sp>
        <p:nvSpPr>
          <p:cNvPr id="10" name="Text 8"/>
          <p:cNvSpPr/>
          <p:nvPr/>
        </p:nvSpPr>
        <p:spPr>
          <a:xfrm>
            <a:off x="915988" y="2359620"/>
            <a:ext cx="1492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4600" y="2313880"/>
            <a:ext cx="69285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 a auditoria das viagens com múltiplos destinos e maior valor individual.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27456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9932C"/>
          </a:solidFill>
          <a:ln/>
        </p:spPr>
      </p:sp>
      <p:sp>
        <p:nvSpPr>
          <p:cNvPr id="13" name="Text 11"/>
          <p:cNvSpPr/>
          <p:nvPr/>
        </p:nvSpPr>
        <p:spPr>
          <a:xfrm>
            <a:off x="913606" y="2791420"/>
            <a:ext cx="1538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44600" y="2745680"/>
            <a:ext cx="804052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Considerar parâmetros de duração-alvo diante da assimetria observada (mediana de 3 dias).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1774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9932C"/>
          </a:solidFill>
          <a:ln/>
        </p:spPr>
      </p:sp>
      <p:sp>
        <p:nvSpPr>
          <p:cNvPr id="16" name="Text 14"/>
          <p:cNvSpPr/>
          <p:nvPr/>
        </p:nvSpPr>
        <p:spPr>
          <a:xfrm>
            <a:off x="917773" y="3223220"/>
            <a:ext cx="1456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44600" y="3177480"/>
            <a:ext cx="83222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Acompanhar de perto os cargos de maior gasto agregado, com destaque para os de magistério.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44822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Viagens a Serviço · Portal da Transparência 2023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C99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DA TRANSPARÊNCIA · GOVERNO FEDERAL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89312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7F5E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Obrigado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7160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7CB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 e discussão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831880"/>
            <a:ext cx="54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github.com/ricardootorres/analise-viagens-portal-transparencia-2023-v2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25894" y="5831880"/>
            <a:ext cx="11041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Ricardo Torres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Viagens a Serviço 2023 — Portal da Transparência</dc:title>
  <dc:subject>PptxGenJS Presentation</dc:subject>
  <dc:creator>PptxGenJS</dc:creator>
  <cp:lastModifiedBy>PptxGenJS</cp:lastModifiedBy>
  <cp:revision>1</cp:revision>
  <dcterms:created xsi:type="dcterms:W3CDTF">2026-09-25T17:49:51Z</dcterms:created>
  <dcterms:modified xsi:type="dcterms:W3CDTF">2026-09-25T17:49:51Z</dcterms:modified>
</cp:coreProperties>
</file>